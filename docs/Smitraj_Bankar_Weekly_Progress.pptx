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92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3B82F6"/>
                </a:solidFill>
                <a:latin typeface="Segoe UI"/>
              </a:rPr>
              <a:t>INDIVIDUAL PROGRESS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128016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Segoe UI"/>
              </a:rPr>
              <a:t>NextGen Rakshak — Backend, Cloud Functions &amp; ML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B8C0D4"/>
                </a:solidFill>
                <a:latin typeface="Segoe UI"/>
              </a:rPr>
              <a:t>Smitraj Bankar  ·  Roll No. 09</a:t>
            </a:r>
          </a:p>
          <a:p>
            <a:r>
              <a:rPr sz="1700" b="0" i="0">
                <a:solidFill>
                  <a:srgbClr val="B8C0D4"/>
                </a:solidFill>
                <a:latin typeface="Segoe UI"/>
              </a:rPr>
              <a:t>Weeks 1–6  ·  Weeks 1–2 team-wide, Weeks 3–6 individual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3200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A1A2E"/>
                </a:solidFill>
                <a:latin typeface="Segoe UI"/>
              </a:rPr>
              <a:t>WEEK 1-2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77440" y="365760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Segoe UI"/>
              </a:rPr>
              <a:t>Team-Wide: Research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600" b="1" i="0">
                <a:solidFill>
                  <a:srgbClr val="3B82F6"/>
                </a:solidFill>
                <a:latin typeface="Segoe UI"/>
              </a:rPr>
              <a:t>Week 1 — Research Gap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B8C0D4"/>
                </a:solidFill>
                <a:latin typeface="Segoe UI"/>
              </a:rPr>
              <a:t>Studied TrackChild, Khoya-Paya, GHAR, ReUnite — all reactive, server-dependent, fail under network congestion. NCRB: 98,375 missing children (2024). Confirmed no existing system combines instant decentralized alerts + on-device recognition + offline mesh.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9164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600" b="1" i="0">
                <a:solidFill>
                  <a:srgbClr val="3B82F6"/>
                </a:solidFill>
                <a:latin typeface="Segoe UI"/>
              </a:rPr>
              <a:t>Week 1 — Tech Survey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B8C0D4"/>
                </a:solidFill>
                <a:latin typeface="Segoe UI"/>
              </a:rPr>
              <a:t>Studied MobileFaceNet + TFLite for edge inference, ML Kit face detection, Nearby Connections API for peer-to-peer comms — the three pillars the architecture is built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5303520" cy="219456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600" b="1" i="0">
                <a:solidFill>
                  <a:srgbClr val="3B82F6"/>
                </a:solidFill>
                <a:latin typeface="Segoe UI"/>
              </a:rPr>
              <a:t>Week 2 — Architecture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B8C0D4"/>
                </a:solidFill>
                <a:latin typeface="Segoe UI"/>
              </a:rPr>
              <a:t>Defined the 3-component system: Police Kiosk (Next.js), Volunteer App (Kotlin), Offline Mesh (Nearby Connections). Documented alert propagation: kiosk → FCM → volunteers, plus multi-hop store-and-forward for offline.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114800"/>
            <a:ext cx="5303520" cy="219456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600" b="1" i="0">
                <a:solidFill>
                  <a:srgbClr val="3B82F6"/>
                </a:solidFill>
                <a:latin typeface="Segoe UI"/>
              </a:rPr>
              <a:t>Week 2 — Design Artifacts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B8C0D4"/>
                </a:solidFill>
                <a:latin typeface="Segoe UI"/>
              </a:rPr>
              <a:t>UI wireframes for both apps, Firestore schema (alerts / volunteers / matches / roles), tech-stack finalized, communication protocols documented.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3200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A1A2E"/>
                </a:solidFill>
                <a:latin typeface="Segoe UI"/>
              </a:rPr>
              <a:t>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77440" y="365760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Segoe UI"/>
              </a:rPr>
              <a:t>Studying Firebase Cloud Functions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Segoe UI"/>
              </a:rPr>
              <a:t>▸  Studied Firebase Cloud Functions v2 for serverless backend — no server to provision, functions run on Firestore events.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FFFFFF"/>
                </a:solidFill>
                <a:latin typeface="Segoe UI"/>
              </a:rPr>
              <a:t>▸  Focus: how to compute a face embedding server-side, and how to broadcast an alert the moment it's filed.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3B82F6"/>
                </a:solidFill>
                <a:latin typeface="Segoe UI"/>
              </a:rPr>
              <a:t>Key idea learned: Firestore triggers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46120"/>
            <a:ext cx="10881360" cy="2377440"/>
          </a:xfrm>
          <a:prstGeom prst="roundRect">
            <a:avLst>
              <a:gd name="adj" fmla="val 4000"/>
            </a:avLst>
          </a:prstGeom>
          <a:solidFill>
            <a:srgbClr val="0A0F1E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>
              <a:spcAft>
                <a:spcPts val="300"/>
              </a:spcAft>
            </a:pPr>
            <a:r>
              <a:rPr sz="1250" b="0" i="0" dirty="0" err="1">
                <a:solidFill>
                  <a:srgbClr val="B8C0D4"/>
                </a:solidFill>
                <a:latin typeface="Consolas"/>
              </a:rPr>
              <a:t>onDocumentCreated</a:t>
            </a:r>
            <a:r>
              <a:rPr sz="1250" b="0" i="0" dirty="0">
                <a:solidFill>
                  <a:srgbClr val="B8C0D4"/>
                </a:solidFill>
                <a:latin typeface="Consolas"/>
              </a:rPr>
              <a:t>("alerts/{</a:t>
            </a:r>
            <a:r>
              <a:rPr sz="1250" b="0" i="0" dirty="0" err="1">
                <a:solidFill>
                  <a:srgbClr val="B8C0D4"/>
                </a:solidFill>
                <a:latin typeface="Consolas"/>
              </a:rPr>
              <a:t>alertId</a:t>
            </a:r>
            <a:r>
              <a:rPr sz="1250" b="0" i="0" dirty="0">
                <a:solidFill>
                  <a:srgbClr val="B8C0D4"/>
                </a:solidFill>
                <a:latin typeface="Consolas"/>
              </a:rPr>
              <a:t>}", </a:t>
            </a:r>
            <a:r>
              <a:rPr sz="1250" b="0" i="0" dirty="0" err="1">
                <a:solidFill>
                  <a:srgbClr val="B8C0D4"/>
                </a:solidFill>
                <a:latin typeface="Consolas"/>
              </a:rPr>
              <a:t>async</a:t>
            </a:r>
            <a:r>
              <a:rPr sz="1250" b="0" i="0" dirty="0">
                <a:solidFill>
                  <a:srgbClr val="B8C0D4"/>
                </a:solidFill>
                <a:latin typeface="Consolas"/>
              </a:rPr>
              <a:t> (event) =&gt; {</a:t>
            </a:r>
          </a:p>
          <a:p>
            <a:pPr>
              <a:spcAft>
                <a:spcPts val="300"/>
              </a:spcAft>
            </a:pPr>
            <a:r>
              <a:rPr sz="1250" b="0" i="0" dirty="0">
                <a:solidFill>
                  <a:srgbClr val="6A9A55"/>
                </a:solidFill>
                <a:latin typeface="Consolas"/>
              </a:rPr>
              <a:t>  // fires automatically the instant an officer saves an alert</a:t>
            </a:r>
          </a:p>
          <a:p>
            <a:pPr>
              <a:spcAft>
                <a:spcPts val="300"/>
              </a:spcAft>
            </a:pPr>
            <a:r>
              <a:rPr sz="1250" b="0" i="0" dirty="0">
                <a:solidFill>
                  <a:srgbClr val="FFFFFF"/>
                </a:solidFill>
                <a:latin typeface="Consolas"/>
              </a:rPr>
              <a:t>  </a:t>
            </a:r>
            <a:r>
              <a:rPr sz="1250" b="0" i="0" dirty="0" err="1">
                <a:solidFill>
                  <a:srgbClr val="FFFFFF"/>
                </a:solidFill>
                <a:latin typeface="Consolas"/>
              </a:rPr>
              <a:t>const</a:t>
            </a:r>
            <a:r>
              <a:rPr sz="1250" b="0" i="0" dirty="0">
                <a:solidFill>
                  <a:srgbClr val="FFFFFF"/>
                </a:solidFill>
                <a:latin typeface="Consolas"/>
              </a:rPr>
              <a:t> embedding = await </a:t>
            </a:r>
            <a:r>
              <a:rPr sz="1250" b="0" i="0" dirty="0" err="1">
                <a:solidFill>
                  <a:srgbClr val="FFFFFF"/>
                </a:solidFill>
                <a:latin typeface="Consolas"/>
              </a:rPr>
              <a:t>computeEmbedding</a:t>
            </a:r>
            <a:r>
              <a:rPr sz="1250" b="0" i="0" dirty="0">
                <a:solidFill>
                  <a:srgbClr val="FFFFFF"/>
                </a:solidFill>
                <a:latin typeface="Consolas"/>
              </a:rPr>
              <a:t>(photo)   // 128 numbers</a:t>
            </a:r>
          </a:p>
          <a:p>
            <a:pPr>
              <a:spcAft>
                <a:spcPts val="300"/>
              </a:spcAft>
            </a:pPr>
            <a:r>
              <a:rPr sz="1250" b="0" i="0" dirty="0">
                <a:solidFill>
                  <a:srgbClr val="FFFFFF"/>
                </a:solidFill>
                <a:latin typeface="Consolas"/>
              </a:rPr>
              <a:t>  await </a:t>
            </a:r>
            <a:r>
              <a:rPr sz="1250" b="0" i="0" dirty="0" err="1">
                <a:solidFill>
                  <a:srgbClr val="FFFFFF"/>
                </a:solidFill>
                <a:latin typeface="Consolas"/>
              </a:rPr>
              <a:t>broadcastAlert</a:t>
            </a:r>
            <a:r>
              <a:rPr sz="1250" b="0" i="0" dirty="0">
                <a:solidFill>
                  <a:srgbClr val="FFFFFF"/>
                </a:solidFill>
                <a:latin typeface="Consolas"/>
              </a:rPr>
              <a:t>(</a:t>
            </a:r>
            <a:r>
              <a:rPr sz="1250" b="0" i="0" dirty="0" err="1">
                <a:solidFill>
                  <a:srgbClr val="FFFFFF"/>
                </a:solidFill>
                <a:latin typeface="Consolas"/>
              </a:rPr>
              <a:t>alertId</a:t>
            </a:r>
            <a:r>
              <a:rPr sz="1250" b="0" i="0" dirty="0">
                <a:solidFill>
                  <a:srgbClr val="FFFFFF"/>
                </a:solidFill>
                <a:latin typeface="Consolas"/>
              </a:rPr>
              <a:t>, </a:t>
            </a:r>
            <a:r>
              <a:rPr sz="1250" b="0" i="0" dirty="0" err="1">
                <a:solidFill>
                  <a:srgbClr val="FFFFFF"/>
                </a:solidFill>
                <a:latin typeface="Consolas"/>
              </a:rPr>
              <a:t>childName</a:t>
            </a:r>
            <a:r>
              <a:rPr sz="1250" b="0" i="0" dirty="0">
                <a:solidFill>
                  <a:srgbClr val="FFFFFF"/>
                </a:solidFill>
                <a:latin typeface="Consolas"/>
              </a:rPr>
              <a:t>, </a:t>
            </a:r>
            <a:r>
              <a:rPr sz="1250" b="0" i="0" dirty="0" err="1">
                <a:solidFill>
                  <a:srgbClr val="FFFFFF"/>
                </a:solidFill>
                <a:latin typeface="Consolas"/>
              </a:rPr>
              <a:t>geoLocation</a:t>
            </a:r>
            <a:r>
              <a:rPr sz="1250" b="0" i="0" dirty="0">
                <a:solidFill>
                  <a:srgbClr val="FFFFFF"/>
                </a:solidFill>
                <a:latin typeface="Consolas"/>
              </a:rPr>
              <a:t>)</a:t>
            </a:r>
          </a:p>
          <a:p>
            <a:pPr>
              <a:spcAft>
                <a:spcPts val="300"/>
              </a:spcAft>
            </a:pPr>
            <a:r>
              <a:rPr sz="1250" b="0" i="0" dirty="0">
                <a:solidFill>
                  <a:srgbClr val="B8C0D4"/>
                </a:solidFill>
                <a:latin typeface="Consolas"/>
              </a:rPr>
              <a:t>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1">
                <a:solidFill>
                  <a:srgbClr val="B8C0D4"/>
                </a:solidFill>
                <a:latin typeface="Segoe UI"/>
              </a:rPr>
              <a:t>No polling, no manual trigger — the write itself IS the trigger. This became the backbone of onAlertCreated / onMatchCreated built in Week 5.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3200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A1A2E"/>
                </a:solidFill>
                <a:latin typeface="Segoe UI"/>
              </a:rPr>
              <a:t>RESULTS · 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36576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Segoe UI"/>
              </a:rPr>
              <a:t>MobileFaceNet Weight Pipeline — Built &amp;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03520" cy="123444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300" b="1" i="0">
                <a:solidFill>
                  <a:srgbClr val="3B82F6"/>
                </a:solidFill>
                <a:latin typeface="Segoe UI"/>
              </a:rPr>
              <a:t>WHAT was done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B8C0D4"/>
                </a:solidFill>
                <a:latin typeface="Segoe UI"/>
              </a:rPr>
              <a:t>Source real, licensed face-recognition weights and turn one model into two matching artefacts (phone + server) instead of two separately-trained models that could drift apart.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303520" cy="123444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300" b="1" i="0">
                <a:solidFill>
                  <a:srgbClr val="3B82F6"/>
                </a:solidFill>
                <a:latin typeface="Segoe UI"/>
              </a:rPr>
              <a:t>HOW it was done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B8C0D4"/>
                </a:solidFill>
                <a:latin typeface="Segoe UI"/>
              </a:rPr>
              <a:t>Downloaded the pretrained TF1 frozen graph, converted it to a TF2 SavedModel, then quantized one branch to a mobile .tflite while copying the other as-is for the server — a single source, two consumers.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2C55E"/>
                </a:solidFill>
                <a:latin typeface="Segoe UI"/>
              </a:rPr>
              <a:t>MEASURABLE 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10881360" cy="566928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Model size (device):  </a:t>
            </a:r>
            <a:r>
              <a:rPr sz="1450" b="1" i="0">
                <a:solidFill>
                  <a:srgbClr val="22C55E"/>
                </a:solidFill>
                <a:latin typeface="Segoe UI"/>
              </a:rPr>
              <a:t>5.9 MB  →  1.5 MB   (74.6% smaller, dynamic-range quantized)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77640"/>
            <a:ext cx="10881360" cy="566928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Output shape:  </a:t>
            </a:r>
            <a:r>
              <a:rPr sz="1450" b="1" i="0">
                <a:solidFill>
                  <a:srgbClr val="3B82F6"/>
                </a:solidFill>
                <a:latin typeface="Segoe UI"/>
              </a:rPr>
              <a:t>128-dim embedding, already L2-normalized by the graph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17720"/>
            <a:ext cx="10881360" cy="566928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Parity check (tflite vs. server SavedModel):  </a:t>
            </a:r>
            <a:r>
              <a:rPr sz="1450" b="1" i="0">
                <a:solidFill>
                  <a:srgbClr val="22C55E"/>
                </a:solidFill>
                <a:latin typeface="Segoe UI"/>
              </a:rPr>
              <a:t>cosine = 0.99967   (pass bar was ≥ 0.99)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3B82F6"/>
                </a:solidFill>
                <a:latin typeface="Segoe UI"/>
              </a:rPr>
              <a:t>Verdict: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Quantization did not damage the model — device and server produce near-identical embeddings for the same 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3200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A1A2E"/>
                </a:solidFill>
                <a:latin typeface="Segoe UI"/>
              </a:rPr>
              <a:t>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77440" y="365760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Segoe UI"/>
              </a:rPr>
              <a:t>Testing Functions + Firestore, Vercel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303520" cy="448056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800" b="1" i="0">
                <a:solidFill>
                  <a:srgbClr val="3B82F6"/>
                </a:solidFill>
                <a:latin typeface="Segoe UI"/>
              </a:rPr>
              <a:t>Testing Cloud Functions + Firestore</a:t>
            </a:r>
          </a:p>
          <a:p>
            <a:pPr>
              <a:spcBef>
                <a:spcPts val="500"/>
              </a:spcBef>
            </a:pPr>
            <a:r>
              <a:rPr sz="1400" b="0" i="0">
                <a:solidFill>
                  <a:srgbClr val="B8C0D4"/>
                </a:solidFill>
                <a:latin typeface="Segoe UI"/>
              </a:rPr>
              <a:t>Ran early Cloud Functions against a live Firestore instance — verified reads/writes to alerts and volunteers collections, checked emulator vs. deployed behaviour, confirmed trigger firing on document create/update before building real logic on 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91640"/>
            <a:ext cx="5303520" cy="448056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800" b="1" i="0">
                <a:solidFill>
                  <a:srgbClr val="3B82F6"/>
                </a:solidFill>
                <a:latin typeface="Segoe UI"/>
              </a:rPr>
              <a:t>Vercel Deployment (Web Portal)</a:t>
            </a:r>
          </a:p>
          <a:p>
            <a:pPr>
              <a:spcBef>
                <a:spcPts val="500"/>
              </a:spcBef>
            </a:pPr>
            <a:r>
              <a:rPr sz="1400" b="0" i="0">
                <a:solidFill>
                  <a:srgbClr val="B8C0D4"/>
                </a:solidFill>
                <a:latin typeface="Segoe UI"/>
              </a:rPr>
              <a:t>Deployed the Next.js kiosk portal to Vercel for an always-on interactive test environment — let the team click through the real dashboard/login/profile pages from any browser instead of only localhost, speeding up UI feedback and demo readiness.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3200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A1A2E"/>
                </a:solidFill>
                <a:latin typeface="Segoe UI"/>
              </a:rPr>
              <a:t>RESULTS · 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36576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Segoe UI"/>
              </a:rPr>
              <a:t>Cloud Functions + Firestore — Tested 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03520" cy="123444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300" b="1" i="0">
                <a:solidFill>
                  <a:srgbClr val="3B82F6"/>
                </a:solidFill>
                <a:latin typeface="Segoe UI"/>
              </a:rPr>
              <a:t>WHAT was done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B8C0D4"/>
                </a:solidFill>
                <a:latin typeface="Segoe UI"/>
              </a:rPr>
              <a:t>Confirm the serverless pipeline actually behaves correctly against a real database before more logic gets built on top of it, and give the team an always-on build to click through instead of only localhost.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303520" cy="123444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300" b="1" i="0">
                <a:solidFill>
                  <a:srgbClr val="3B82F6"/>
                </a:solidFill>
                <a:latin typeface="Segoe UI"/>
              </a:rPr>
              <a:t>HOW it was done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B8C0D4"/>
                </a:solidFill>
                <a:latin typeface="Segoe UI"/>
              </a:rPr>
              <a:t>Created real alert documents in Firestore, watched the trigger fire, and read back structured logs instead of guessing; deployed the web portal to Vercel for a shared, always-reachable test URL.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2C55E"/>
                </a:solidFill>
                <a:latin typeface="Segoe UI"/>
              </a:rPr>
              <a:t>MEASURABLE 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10881360" cy="566928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Trigger → embedding latency:  </a:t>
            </a:r>
            <a:r>
              <a:rPr sz="1450" b="1" i="0">
                <a:solidFill>
                  <a:srgbClr val="3B82F6"/>
                </a:solidFill>
                <a:latin typeface="Segoe UI"/>
              </a:rPr>
              <a:t>~1–3 seconds per alert after a warm start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77640"/>
            <a:ext cx="10881360" cy="566928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Verification method:  </a:t>
            </a:r>
            <a:r>
              <a:rPr sz="1450" b="1" i="0">
                <a:solidFill>
                  <a:srgbClr val="22C55E"/>
                </a:solidFill>
                <a:latin typeface="Segoe UI"/>
              </a:rPr>
              <a:t>structured log check —  "Embedding written" { dims: 128 }  on every test alert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17720"/>
            <a:ext cx="10881360" cy="566928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Deployed function limits confirmed:  </a:t>
            </a:r>
            <a:r>
              <a:rPr sz="1450" b="1" i="0">
                <a:solidFill>
                  <a:srgbClr val="3B82F6"/>
                </a:solidFill>
                <a:latin typeface="Segoe UI"/>
              </a:rPr>
              <a:t>1 GiB memory, 120s timeout, region us-central1 — well inside budget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57800"/>
            <a:ext cx="10881360" cy="566928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Web portal reachability:  </a:t>
            </a:r>
            <a:r>
              <a:rPr sz="1450" b="1" i="0">
                <a:solidFill>
                  <a:srgbClr val="22C55E"/>
                </a:solidFill>
                <a:latin typeface="Segoe UI"/>
              </a:rPr>
              <a:t>moved from localhost-only to a shared Vercel URL the whole team could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3B82F6"/>
                </a:solidFill>
                <a:latin typeface="Segoe UI"/>
              </a:rPr>
              <a:t>Verdict: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Pipeline verified end-to-end on live infrastructure, not just in theory — every embedding written carried the expected 128 dimensions.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3200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A1A2E"/>
                </a:solidFill>
                <a:latin typeface="Segoe UI"/>
              </a:rPr>
              <a:t>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77440" y="365760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Segoe UI"/>
              </a:rPr>
              <a:t>Built the Cloud Functions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600" b="1" i="0">
                <a:solidFill>
                  <a:srgbClr val="3B82F6"/>
                </a:solidFill>
                <a:latin typeface="Segoe UI"/>
              </a:rPr>
              <a:t>1 · onAlertCreated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B8C0D4"/>
                </a:solidFill>
                <a:latin typeface="Segoe UI"/>
              </a:rPr>
              <a:t>Fires when an officer files an alert. Downloads the photo from Storage, runs face detection (BlazeFace) + crop, feeds it to MobileFaceNet → 128-d embedding, writes it back to the alert doc.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60020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600" b="1" i="0">
                <a:solidFill>
                  <a:srgbClr val="3B82F6"/>
                </a:solidFill>
                <a:latin typeface="Segoe UI"/>
              </a:rPr>
              <a:t>2 · broadcastAlert (FCM)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B8C0D4"/>
                </a:solidFill>
                <a:latin typeface="Segoe UI"/>
              </a:rPr>
              <a:t>Reads every volunteer's fcmToken, geofences to 2 km via haversine distance on lastLocation, sends a multicast push in batches of 500, prunes dead tokens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600200"/>
            <a:ext cx="3429000" cy="274320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600" b="1" i="0">
                <a:solidFill>
                  <a:srgbClr val="3B82F6"/>
                </a:solidFill>
                <a:latin typeface="Segoe UI"/>
              </a:rPr>
              <a:t>3 · onMatchCreated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B8C0D4"/>
                </a:solidFill>
                <a:latin typeface="Segoe UI"/>
              </a:rPr>
              <a:t>Fires when a volunteer reports a sighting. Looks up the alert's filing officer and pushes a "New Match Sighting — X% confidence" notification to their kiosk.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▸  Firestore triggers wired end-to-end and deployed live to Firebase (not just tested locally).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▸  Verified full loop on the deployed Vercel + Firebase pair: file alert → embedding appears → volunteers get pushed.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3200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A1A2E"/>
                </a:solidFill>
                <a:latin typeface="Segoe UI"/>
              </a:rPr>
              <a:t>RESULTS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36576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Segoe UI"/>
              </a:rPr>
              <a:t>Three Firestore Triggers — Implemented &amp; Deployed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03520" cy="123444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300" b="1" i="0">
                <a:solidFill>
                  <a:srgbClr val="3B82F6"/>
                </a:solidFill>
                <a:latin typeface="Segoe UI"/>
              </a:rPr>
              <a:t>WHAT was done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B8C0D4"/>
                </a:solidFill>
                <a:latin typeface="Segoe UI"/>
              </a:rPr>
              <a:t>Turn the studied theory into the three real functions the whole alert-to-match loop depends on: compute + broadcast on alert creation, notify on match creation.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303520" cy="123444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300" b="1" i="0">
                <a:solidFill>
                  <a:srgbClr val="3B82F6"/>
                </a:solidFill>
                <a:latin typeface="Segoe UI"/>
              </a:rPr>
              <a:t>HOW it was done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B8C0D4"/>
                </a:solidFill>
                <a:latin typeface="Segoe UI"/>
              </a:rPr>
              <a:t>Wrote onAlertCreated (embed + broadcast), broadcastAlert (FCM push with geofencing), and onMatchCreated (push to filing officer) as Firestore-native triggers — no polling, no cron for the hot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2C55E"/>
                </a:solidFill>
                <a:latin typeface="Segoe UI"/>
              </a:rPr>
              <a:t>MEASURABLE 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10881360" cy="566928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FCM batching:  </a:t>
            </a:r>
            <a:r>
              <a:rPr sz="1450" b="1" i="0">
                <a:solidFill>
                  <a:srgbClr val="3B82F6"/>
                </a:solidFill>
                <a:latin typeface="Segoe UI"/>
              </a:rPr>
              <a:t>auto-chunks at 500 tokens/request (the hard API cap) — no manual limit-watching needed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77640"/>
            <a:ext cx="10881360" cy="566928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Geofence radius:  </a:t>
            </a:r>
            <a:r>
              <a:rPr sz="1450" b="1" i="0">
                <a:solidFill>
                  <a:srgbClr val="22C55E"/>
                </a:solidFill>
                <a:latin typeface="Segoe UI"/>
              </a:rPr>
              <a:t>2 km via haversine distance; fail-open — a volunteer with no location is still notified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17720"/>
            <a:ext cx="10881360" cy="566928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Firestore batch safety:  </a:t>
            </a:r>
            <a:r>
              <a:rPr sz="1450" b="1" i="0">
                <a:solidFill>
                  <a:srgbClr val="3B82F6"/>
                </a:solidFill>
                <a:latin typeface="Segoe UI"/>
              </a:rPr>
              <a:t>writes chunked at 500 docs/batch (Firestore's hard limit) so a large sweep can't fail outright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57800"/>
            <a:ext cx="10881360" cy="566928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300" b="0" i="0">
                <a:solidFill>
                  <a:srgbClr val="FFFFFF"/>
                </a:solidFill>
                <a:latin typeface="Segoe UI"/>
              </a:rPr>
              <a:t>Dead-token cleanup:  </a:t>
            </a:r>
            <a:r>
              <a:rPr sz="1450" b="1" i="0">
                <a:solidFill>
                  <a:srgbClr val="22C55E"/>
                </a:solidFill>
                <a:latin typeface="Segoe UI"/>
              </a:rPr>
              <a:t>invalid/expired FCM tokens auto-pruned from Firestore on send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3B82F6"/>
                </a:solidFill>
                <a:latin typeface="Segoe UI"/>
              </a:rPr>
              <a:t>Verdict: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 busy event with hundreds of volunteers and a backlog of stale alerts cannot break these functions — every hard limit in the pipeline is handled, not assumed away.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32004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A1A2E"/>
                </a:solidFill>
                <a:latin typeface="Segoe UI"/>
              </a:rPr>
              <a:t>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77440" y="365760"/>
            <a:ext cx="8869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Segoe UI"/>
              </a:rPr>
              <a:t>ML Weights Pipeline + Backend Hardening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303520" cy="237744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600" b="1" i="0">
                <a:solidFill>
                  <a:srgbClr val="3B82F6"/>
                </a:solidFill>
                <a:latin typeface="Segoe UI"/>
              </a:rPr>
              <a:t>MobileFaceNet weight sourcing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B8C0D4"/>
                </a:solidFill>
                <a:latin typeface="Segoe UI"/>
              </a:rPr>
              <a:t>Sourced pretrained MobileFaceNet_9925_9680.pb (sirius-ai/MobileFaceNet_TF, Apache-2.0, 99.25% LFW accuracy). Built freeze_to_savedmodel.py + convert_models.py: one TF1 frozen graph → quantized Android .tflite (1.5 MB) AND a TensorFlow SavedModel for the server — same weights, so on-device and server embeddings line 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00200"/>
            <a:ext cx="5303520" cy="237744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600" b="1" i="0">
                <a:solidFill>
                  <a:srgbClr val="3B82F6"/>
                </a:solidFill>
                <a:latin typeface="Segoe UI"/>
              </a:rPr>
              <a:t>Node.js 22 + firebase-functions v7 upgrade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B8C0D4"/>
                </a:solidFill>
                <a:latin typeface="Segoe UI"/>
              </a:rPr>
              <a:t>Migrated all Cloud Functions off Node 20 ahead of its Oct-2026 decommission — upgraded runtime + firebase-functions to v7, re-tested every trigger (onAlertCreated, onMatchCreated, expireAlerts) still deploys and fires correctly.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82F6"/>
                </a:solidFill>
                <a:latin typeface="Segoe UI"/>
              </a:rPr>
              <a:t>verify_parity.py — proving both artifacts agree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526280"/>
            <a:ext cx="10881360" cy="1737360"/>
          </a:xfrm>
          <a:prstGeom prst="roundRect">
            <a:avLst>
              <a:gd name="adj" fmla="val 4000"/>
            </a:avLst>
          </a:prstGeom>
          <a:solidFill>
            <a:srgbClr val="0A0F1E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>
              <a:spcAft>
                <a:spcPts val="300"/>
              </a:spcAft>
            </a:pPr>
            <a:r>
              <a:rPr sz="1250" b="0" i="0" dirty="0">
                <a:solidFill>
                  <a:srgbClr val="FFFFFF"/>
                </a:solidFill>
                <a:latin typeface="Consolas"/>
              </a:rPr>
              <a:t>cosine(</a:t>
            </a:r>
            <a:r>
              <a:rPr sz="1250" b="0" i="0" dirty="0" err="1">
                <a:solidFill>
                  <a:srgbClr val="FFFFFF"/>
                </a:solidFill>
                <a:latin typeface="Consolas"/>
              </a:rPr>
              <a:t>tflite_output</a:t>
            </a:r>
            <a:r>
              <a:rPr sz="1250" b="0" i="0" dirty="0">
                <a:solidFill>
                  <a:srgbClr val="FFFFFF"/>
                </a:solidFill>
                <a:latin typeface="Consolas"/>
              </a:rPr>
              <a:t>, </a:t>
            </a:r>
            <a:r>
              <a:rPr sz="1250" b="0" i="0" dirty="0" err="1">
                <a:solidFill>
                  <a:srgbClr val="FFFFFF"/>
                </a:solidFill>
                <a:latin typeface="Consolas"/>
              </a:rPr>
              <a:t>savedmodel_output</a:t>
            </a:r>
            <a:r>
              <a:rPr sz="1250" b="0" i="0" dirty="0">
                <a:solidFill>
                  <a:srgbClr val="FFFFFF"/>
                </a:solidFill>
                <a:latin typeface="Consolas"/>
              </a:rPr>
              <a:t>)  for the same face crop</a:t>
            </a:r>
          </a:p>
          <a:p>
            <a:pPr>
              <a:spcAft>
                <a:spcPts val="300"/>
              </a:spcAft>
            </a:pPr>
            <a:r>
              <a:rPr sz="1250" b="0" i="0" dirty="0">
                <a:solidFill>
                  <a:srgbClr val="22C55E"/>
                </a:solidFill>
                <a:latin typeface="Consolas"/>
              </a:rPr>
              <a:t>=&gt; 0.99967   (threshold for "pass" is &gt;= 0.99)</a:t>
            </a:r>
          </a:p>
          <a:p>
            <a:pPr>
              <a:spcAft>
                <a:spcPts val="300"/>
              </a:spcAft>
            </a:pPr>
            <a:r>
              <a:rPr sz="1250" b="0" i="0" dirty="0">
                <a:solidFill>
                  <a:srgbClr val="B8C0D4"/>
                </a:solidFill>
                <a:latin typeface="Consolas"/>
              </a:rPr>
              <a:t>Confirms: Android .</a:t>
            </a:r>
            <a:r>
              <a:rPr sz="1250" b="0" i="0" dirty="0" err="1">
                <a:solidFill>
                  <a:srgbClr val="B8C0D4"/>
                </a:solidFill>
                <a:latin typeface="Consolas"/>
              </a:rPr>
              <a:t>tflite</a:t>
            </a:r>
            <a:r>
              <a:rPr sz="1250" b="0" i="0" dirty="0">
                <a:solidFill>
                  <a:srgbClr val="B8C0D4"/>
                </a:solidFill>
                <a:latin typeface="Consolas"/>
              </a:rPr>
              <a:t> and server </a:t>
            </a:r>
            <a:r>
              <a:rPr sz="1250" b="0" i="0" dirty="0" err="1">
                <a:solidFill>
                  <a:srgbClr val="B8C0D4"/>
                </a:solidFill>
                <a:latin typeface="Consolas"/>
              </a:rPr>
              <a:t>SavedModel</a:t>
            </a:r>
            <a:r>
              <a:rPr sz="1250" b="0" i="0" dirty="0">
                <a:solidFill>
                  <a:srgbClr val="B8C0D4"/>
                </a:solidFill>
                <a:latin typeface="Consolas"/>
              </a:rPr>
              <a:t> are the SAME model,</a:t>
            </a:r>
          </a:p>
          <a:p>
            <a:pPr>
              <a:spcAft>
                <a:spcPts val="300"/>
              </a:spcAft>
            </a:pPr>
            <a:r>
              <a:rPr sz="1250" b="0" i="0" dirty="0">
                <a:solidFill>
                  <a:srgbClr val="B8C0D4"/>
                </a:solidFill>
                <a:latin typeface="Consolas"/>
              </a:rPr>
              <a:t>so a phone-side embedding and a server-side embedding are directly comparable.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3200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A1A2E"/>
                </a:solidFill>
                <a:latin typeface="Segoe UI"/>
              </a:rPr>
              <a:t>RESULTS · WEEK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36576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Segoe UI"/>
              </a:rPr>
              <a:t>Threshold Tuned by Measurement, Runtime Upgraded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03520" cy="123444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300" b="1" i="0">
                <a:solidFill>
                  <a:srgbClr val="3B82F6"/>
                </a:solidFill>
                <a:latin typeface="Segoe UI"/>
              </a:rPr>
              <a:t>WHAT was done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B8C0D4"/>
                </a:solidFill>
                <a:latin typeface="Segoe UI"/>
              </a:rPr>
              <a:t>Replace a guessed match threshold with a measured one, and move the backend off a Node runtime days from its end-of-life — both are correctness/stability issues, not features.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554480"/>
            <a:ext cx="5303520" cy="123444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300" b="1" i="0">
                <a:solidFill>
                  <a:srgbClr val="3B82F6"/>
                </a:solidFill>
                <a:latin typeface="Segoe UI"/>
              </a:rPr>
              <a:t>HOW it was done</a:t>
            </a:r>
          </a:p>
          <a:p>
            <a:pPr>
              <a:spcBef>
                <a:spcPts val="500"/>
              </a:spcBef>
            </a:pPr>
            <a:r>
              <a:rPr sz="1250" b="0" i="0">
                <a:solidFill>
                  <a:srgbClr val="B8C0D4"/>
                </a:solidFill>
                <a:latin typeface="Segoe UI"/>
              </a:rPr>
              <a:t>Ran 36 real photo pairs through the actual quantized model using the app's own crop geometry; compared same-person vs. different-person score bands to find a safe cut. Then swapped Node 20 → 22 and firebase-functions v6 → v7 and re-verified every trigger still deploys and fires.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2C55E"/>
                </a:solidFill>
                <a:latin typeface="Segoe UI"/>
              </a:rPr>
              <a:t>MEASURABLE 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10881360" cy="402336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Test set:  </a:t>
            </a:r>
            <a:r>
              <a:rPr sz="1250" b="1" i="0">
                <a:solidFill>
                  <a:srgbClr val="3B82F6"/>
                </a:solidFill>
                <a:latin typeface="Segoe UI"/>
              </a:rPr>
              <a:t>36 pairs — 15 same-person, 21 different-person, real photos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48456"/>
            <a:ext cx="10881360" cy="402336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Same-person score range:  </a:t>
            </a:r>
            <a:r>
              <a:rPr sz="1250" b="1" i="0">
                <a:solidFill>
                  <a:srgbClr val="22C55E"/>
                </a:solidFill>
                <a:latin typeface="Segoe UI"/>
              </a:rPr>
              <a:t>0.7142 – 0.9899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96512"/>
            <a:ext cx="10881360" cy="402336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Different-person score range:  </a:t>
            </a:r>
            <a:r>
              <a:rPr sz="1250" b="1" i="0">
                <a:solidFill>
                  <a:srgbClr val="22C55E"/>
                </a:solidFill>
                <a:latin typeface="Segoe UI"/>
              </a:rPr>
              <a:t>0.0864 – 0.3551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44568"/>
            <a:ext cx="10881360" cy="402336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Old threshold (0.75) result:  </a:t>
            </a:r>
            <a:r>
              <a:rPr sz="1250" b="1" i="0">
                <a:solidFill>
                  <a:srgbClr val="F59E0B"/>
                </a:solidFill>
                <a:latin typeface="Segoe UI"/>
              </a:rPr>
              <a:t>0 / 21 false matches, but 5 / 15 genuine matches MISSED (33%)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92624"/>
            <a:ext cx="10881360" cy="402336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New threshold (0.55) result:  </a:t>
            </a:r>
            <a:r>
              <a:rPr sz="1250" b="1" i="0">
                <a:solidFill>
                  <a:srgbClr val="22C55E"/>
                </a:solidFill>
                <a:latin typeface="Segoe UI"/>
              </a:rPr>
              <a:t>0 / 21 false matches, 0 / 15 missed — 100% correct on this 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440680"/>
            <a:ext cx="10881360" cy="402336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150" b="0" i="0">
                <a:solidFill>
                  <a:srgbClr val="FFFFFF"/>
                </a:solidFill>
                <a:latin typeface="Segoe UI"/>
              </a:rPr>
              <a:t>Runtime migration:  </a:t>
            </a:r>
            <a:r>
              <a:rPr sz="1250" b="1" i="0">
                <a:solidFill>
                  <a:srgbClr val="3B82F6"/>
                </a:solidFill>
                <a:latin typeface="Segoe UI"/>
              </a:rPr>
              <a:t>Node 20 → 22, firebase-functions v6 → v7 — all triggers redeployed and re-verified firing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3445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3B82F6"/>
                </a:solidFill>
                <a:latin typeface="Segoe UI"/>
              </a:rPr>
              <a:t>Verdict: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0.55 is not a guess — it sits in the middle of a measured 0.36-wide gap between the two score bands, with room to spare on both sides.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B82F6"/>
                </a:solidFill>
                <a:latin typeface="Segoe UI"/>
              </a:rPr>
              <a:t>TECHNICAL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869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"/>
              </a:rPr>
              <a:t>Cloud Functions Architecture (built by Smitraj)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41148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A1A2E"/>
                </a:solidFill>
                <a:latin typeface="Segoe UI"/>
              </a:rPr>
              <a:t>functions/src/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0881360" cy="1051560"/>
          </a:xfrm>
          <a:prstGeom prst="roundRect">
            <a:avLst>
              <a:gd name="adj" fmla="val 10000"/>
            </a:avLst>
          </a:prstGeom>
          <a:solidFill>
            <a:srgbClr val="141F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 algn="ctr"/>
            <a:r>
              <a:rPr sz="1600" b="1" i="0">
                <a:solidFill>
                  <a:srgbClr val="3B82F6"/>
                </a:solidFill>
                <a:latin typeface="Consolas"/>
              </a:rPr>
              <a:t>onAlertCreated  </a:t>
            </a:r>
            <a:r>
              <a:rPr sz="1250" b="0" i="1">
                <a:solidFill>
                  <a:srgbClr val="B8C0D4"/>
                </a:solidFill>
                <a:latin typeface="Segoe UI"/>
              </a:rPr>
              <a:t>trigger: alert doc created</a:t>
            </a:r>
          </a:p>
          <a:p>
            <a:pPr>
              <a:spcBef>
                <a:spcPts val="400"/>
              </a:spcBef>
            </a:pPr>
            <a:r>
              <a:rPr sz="1350" b="0" i="0">
                <a:solidFill>
                  <a:srgbClr val="FFFFFF"/>
                </a:solidFill>
                <a:latin typeface="Segoe UI"/>
              </a:rPr>
              <a:t>→ download photo (own bucket only, no SSRF) → BlazeFace crop → MobileFaceNet → 128-d embedding written 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881360" cy="1051560"/>
          </a:xfrm>
          <a:prstGeom prst="roundRect">
            <a:avLst>
              <a:gd name="adj" fmla="val 10000"/>
            </a:avLst>
          </a:prstGeom>
          <a:solidFill>
            <a:srgbClr val="141F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 algn="ctr"/>
            <a:r>
              <a:rPr sz="1600" b="1" i="0">
                <a:solidFill>
                  <a:srgbClr val="3B82F6"/>
                </a:solidFill>
                <a:latin typeface="Consolas"/>
              </a:rPr>
              <a:t>broadcastAlert  </a:t>
            </a:r>
            <a:r>
              <a:rPr sz="1250" b="0" i="1">
                <a:solidFill>
                  <a:srgbClr val="B8C0D4"/>
                </a:solidFill>
                <a:latin typeface="Segoe UI"/>
              </a:rPr>
              <a:t>runs inside the same trigger</a:t>
            </a:r>
          </a:p>
          <a:p>
            <a:pPr>
              <a:spcBef>
                <a:spcPts val="400"/>
              </a:spcBef>
            </a:pPr>
            <a:r>
              <a:rPr sz="1350" b="0" i="0">
                <a:solidFill>
                  <a:srgbClr val="FFFFFF"/>
                </a:solidFill>
                <a:latin typeface="Segoe UI"/>
              </a:rPr>
              <a:t>→ haversine geofence (2 km, fail-open) → FCM multicast in batches of 500 → prunes dead tokens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77640"/>
            <a:ext cx="10881360" cy="1051560"/>
          </a:xfrm>
          <a:prstGeom prst="roundRect">
            <a:avLst>
              <a:gd name="adj" fmla="val 10000"/>
            </a:avLst>
          </a:prstGeom>
          <a:solidFill>
            <a:srgbClr val="141F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 algn="ctr"/>
            <a:r>
              <a:rPr sz="1600" b="1" i="0">
                <a:solidFill>
                  <a:srgbClr val="3B82F6"/>
                </a:solidFill>
                <a:latin typeface="Consolas"/>
              </a:rPr>
              <a:t>onMatchCreated  </a:t>
            </a:r>
            <a:r>
              <a:rPr sz="1250" b="0" i="1">
                <a:solidFill>
                  <a:srgbClr val="B8C0D4"/>
                </a:solidFill>
                <a:latin typeface="Segoe UI"/>
              </a:rPr>
              <a:t>trigger: volunteer reports sighting</a:t>
            </a:r>
          </a:p>
          <a:p>
            <a:pPr>
              <a:spcBef>
                <a:spcPts val="400"/>
              </a:spcBef>
            </a:pPr>
            <a:r>
              <a:rPr sz="1350" b="0" i="0">
                <a:solidFill>
                  <a:srgbClr val="FFFFFF"/>
                </a:solidFill>
                <a:latin typeface="Segoe UI"/>
              </a:rPr>
              <a:t>→ looks up alert.createdBy.uid → pushes "New Match — X%" to that officer's kiosk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120640"/>
            <a:ext cx="10881360" cy="1051560"/>
          </a:xfrm>
          <a:prstGeom prst="roundRect">
            <a:avLst>
              <a:gd name="adj" fmla="val 10000"/>
            </a:avLst>
          </a:prstGeom>
          <a:solidFill>
            <a:srgbClr val="141F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 algn="ctr"/>
            <a:r>
              <a:rPr sz="1600" b="1" i="0">
                <a:solidFill>
                  <a:srgbClr val="3B82F6"/>
                </a:solidFill>
                <a:latin typeface="Consolas"/>
              </a:rPr>
              <a:t>expireAlerts  </a:t>
            </a:r>
            <a:r>
              <a:rPr sz="1250" b="0" i="1">
                <a:solidFill>
                  <a:srgbClr val="B8C0D4"/>
                </a:solidFill>
                <a:latin typeface="Segoe UI"/>
              </a:rPr>
              <a:t>scheduled, every 30 min</a:t>
            </a:r>
          </a:p>
          <a:p>
            <a:pPr>
              <a:spcBef>
                <a:spcPts val="400"/>
              </a:spcBef>
            </a:pPr>
            <a:r>
              <a:rPr sz="1350" b="0" i="0">
                <a:solidFill>
                  <a:srgbClr val="FFFFFF"/>
                </a:solidFill>
                <a:latin typeface="Segoe UI"/>
              </a:rPr>
              <a:t>→ marks alerts older than 8h resolved → triggers onAlertResolved → purges embedding + deletes photo from Storage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B82F6"/>
                </a:solidFill>
                <a:latin typeface="Segoe UI"/>
              </a:rPr>
              <a:t>TECHNICAL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869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"/>
              </a:rPr>
              <a:t>Measuring the Right Match Threshold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B8C0D4"/>
                </a:solidFill>
                <a:latin typeface="Segoe UI"/>
              </a:rPr>
              <a:t>36 real photo pairs run through the actual quantized .tflite with the app's own crop geometry: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600" b="1" i="0">
                <a:solidFill>
                  <a:srgbClr val="22C55E"/>
                </a:solidFill>
                <a:latin typeface="Segoe UI"/>
              </a:rPr>
              <a:t>Same person — 15 pairs</a:t>
            </a:r>
          </a:p>
          <a:p>
            <a:pPr>
              <a:spcBef>
                <a:spcPts val="500"/>
              </a:spcBef>
            </a:pPr>
            <a:r>
              <a:rPr sz="1500" b="0" i="0">
                <a:solidFill>
                  <a:srgbClr val="B8C0D4"/>
                </a:solidFill>
                <a:latin typeface="Segoe UI"/>
              </a:rPr>
              <a:t>cosine similarity range:  0.7142 – 0.9899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8600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600" b="1" i="0">
                <a:solidFill>
                  <a:srgbClr val="EF4444"/>
                </a:solidFill>
                <a:latin typeface="Segoe UI"/>
              </a:rPr>
              <a:t>Different people — 21 pairs</a:t>
            </a:r>
          </a:p>
          <a:p>
            <a:pPr>
              <a:spcBef>
                <a:spcPts val="500"/>
              </a:spcBef>
            </a:pPr>
            <a:r>
              <a:rPr sz="1500" b="0" i="0">
                <a:solidFill>
                  <a:srgbClr val="B8C0D4"/>
                </a:solidFill>
                <a:latin typeface="Segoe UI"/>
              </a:rPr>
              <a:t>cosine similarity range:  0.0864 – 0.3551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3B82F6"/>
                </a:solidFill>
                <a:latin typeface="Segoe UI"/>
              </a:rPr>
              <a:t>Empty separation band: 0.3551 → 0.7142  (any threshold here scores all 36 pairs correctly)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434840"/>
            <a:ext cx="5303520" cy="169164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600" b="1" i="0">
                <a:solidFill>
                  <a:srgbClr val="F59E0B"/>
                </a:solidFill>
                <a:latin typeface="Segoe UI"/>
              </a:rPr>
              <a:t>Synopsis default: 0.75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B8C0D4"/>
                </a:solidFill>
                <a:latin typeface="Segoe UI"/>
              </a:rPr>
              <a:t>0/21 false matches, but 5/15 genuine same-person pairs missed — sits inside the same-person band, too strict.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434840"/>
            <a:ext cx="5303520" cy="169164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600" b="1" i="0">
                <a:solidFill>
                  <a:srgbClr val="22C55E"/>
                </a:solidFill>
                <a:latin typeface="Segoe UI"/>
              </a:rPr>
              <a:t>Configured: 0.55  (chosen)</a:t>
            </a:r>
          </a:p>
          <a:p>
            <a:pPr>
              <a:spcBef>
                <a:spcPts val="500"/>
              </a:spcBef>
            </a:pPr>
            <a:r>
              <a:rPr sz="1350" b="0" i="0">
                <a:solidFill>
                  <a:srgbClr val="B8C0D4"/>
                </a:solidFill>
                <a:latin typeface="Segoe UI"/>
              </a:rPr>
              <a:t>0/21 false matches, 0/15 missed — centred in the empty band, ~0.19 headroom either side for harder real-world pairs.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1">
                <a:solidFill>
                  <a:srgbClr val="B8C0D4"/>
                </a:solidFill>
                <a:latin typeface="Segoe UI"/>
              </a:rPr>
              <a:t>Reasoning: a missed child is the failure the system exists to prevent; a false candidate only costs a volunteer one tap — every match is human-confirmed anyway.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B82F6"/>
                </a:solidFill>
                <a:latin typeface="Segoe UI"/>
              </a:rPr>
              <a:t>ENGINEERING CARE TAKEN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869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"/>
              </a:rPr>
              <a:t>Small Decisions That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600" b="1" i="0">
                <a:solidFill>
                  <a:srgbClr val="3B82F6"/>
                </a:solidFill>
                <a:latin typeface="Segoe UI"/>
              </a:rPr>
              <a:t>No SSRF surface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B8C0D4"/>
                </a:solidFill>
                <a:latin typeface="Segoe UI"/>
              </a:rPr>
              <a:t>fetchAlertImage never fetches a caller-given URL — it resolves the path inside our own Storage bucket only. Stops an attacker pointing the function at internal/cloud-metadata hosts.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9164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600" b="1" i="0">
                <a:solidFill>
                  <a:srgbClr val="3B82F6"/>
                </a:solidFill>
                <a:latin typeface="Segoe UI"/>
              </a:rPr>
              <a:t>Fail-open geofencing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B8C0D4"/>
                </a:solidFill>
                <a:latin typeface="Segoe UI"/>
              </a:rPr>
              <a:t>A volunteer with no recorded location is still notified rather than silently skipped — better to over-notify than lose a nearby helper.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77639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600" b="1" i="0">
                <a:solidFill>
                  <a:srgbClr val="3B82F6"/>
                </a:solidFill>
                <a:latin typeface="Segoe UI"/>
              </a:rPr>
              <a:t>Batch-safe Firestore writes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B8C0D4"/>
                </a:solidFill>
                <a:latin typeface="Segoe UI"/>
              </a:rPr>
              <a:t>expireAlerts and clearMatchImages chunk updates at 500 writes (Firestore's batch cap) so a busy-event backlog can't silently fail to sweep.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77639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141F3D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Ins="201168" rtlCol="0" anchor="ctr"/>
          <a:lstStyle/>
          <a:p>
            <a:pPr algn="ctr"/>
            <a:r>
              <a:rPr sz="1600" b="1" i="0">
                <a:solidFill>
                  <a:srgbClr val="3B82F6"/>
                </a:solidFill>
                <a:latin typeface="Segoe UI"/>
              </a:rPr>
              <a:t>Privacy is enforced, not promised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B8C0D4"/>
                </a:solidFill>
                <a:latin typeface="Segoe UI"/>
              </a:rPr>
              <a:t>onAlertResolved deletes the Storage photo and clears the embedding the moment a case closes — the "data doesn't outlive the case" claim is code, not policy.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B82F6"/>
                </a:solidFill>
                <a:latin typeface="Segoe UI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869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"/>
              </a:rPr>
              <a:t>Deployed and Working End-to-End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WhatsApp Image 2026-08-26 at 6.07.57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14327"/>
            <a:ext cx="5303520" cy="2635186"/>
          </a:xfrm>
          <a:prstGeom prst="rect">
            <a:avLst/>
          </a:prstGeom>
        </p:spPr>
      </p:pic>
      <p:pic>
        <p:nvPicPr>
          <p:cNvPr id="6" name="Picture 5" descr="WhatsApp Image 2026-08-26 at 6.07.57 PM (5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630900"/>
            <a:ext cx="5303520" cy="2602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8C0D4"/>
                </a:solidFill>
                <a:latin typeface="Segoe UI"/>
              </a:rPr>
              <a:t>Live dashboard fed by onAlertCreated/onMatchCreated · match review powered by the embedding pipeline above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3B82F6"/>
                </a:solidFill>
                <a:latin typeface="Segoe U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8869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Segoe UI"/>
              </a:rPr>
              <a:t>Weeks 3–6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881360" cy="19050"/>
          </a:xfrm>
          <a:prstGeom prst="rect">
            <a:avLst/>
          </a:prstGeom>
          <a:solidFill>
            <a:srgbClr val="2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371600" cy="96012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1A1A2E"/>
                </a:solidFill>
                <a:latin typeface="Segoe UI"/>
              </a:rPr>
              <a:t>Week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48840" y="1691640"/>
            <a:ext cx="9372600" cy="960120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450" b="0" i="0">
                <a:solidFill>
                  <a:srgbClr val="FFFFFF"/>
                </a:solidFill>
                <a:latin typeface="Segoe UI"/>
              </a:rPr>
              <a:t>Studied Cloud Functions — embedding computation &amp; alert broadcast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1371600" cy="96012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1A1A2E"/>
                </a:solidFill>
                <a:latin typeface="Segoe UI"/>
              </a:rPr>
              <a:t>Week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2743200"/>
            <a:ext cx="9372600" cy="960120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450" b="0" i="0">
                <a:solidFill>
                  <a:srgbClr val="FFFFFF"/>
                </a:solidFill>
                <a:latin typeface="Segoe UI"/>
              </a:rPr>
              <a:t>Tested Functions + Firestore live; deployed web portal to Vercel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94760"/>
            <a:ext cx="1371600" cy="96012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1A1A2E"/>
                </a:solidFill>
                <a:latin typeface="Segoe UI"/>
              </a:rPr>
              <a:t>Week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3794760"/>
            <a:ext cx="9372600" cy="960120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450" b="0" i="0">
                <a:solidFill>
                  <a:srgbClr val="FFFFFF"/>
                </a:solidFill>
                <a:latin typeface="Segoe UI"/>
              </a:rPr>
              <a:t>Implemented onAlertCreated, broadcastAlert (FCM), onMatchCreated — deployed to Firebase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46320"/>
            <a:ext cx="1371600" cy="96012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1A1A2E"/>
                </a:solidFill>
                <a:latin typeface="Segoe UI"/>
              </a:rPr>
              <a:t>Week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4846320"/>
            <a:ext cx="9372600" cy="960120"/>
          </a:xfrm>
          <a:prstGeom prst="roundRect">
            <a:avLst>
              <a:gd name="adj" fmla="val 12000"/>
            </a:avLst>
          </a:prstGeom>
          <a:solidFill>
            <a:srgbClr val="141F3D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450" b="0" i="0">
                <a:solidFill>
                  <a:srgbClr val="FFFFFF"/>
                </a:solidFill>
                <a:latin typeface="Segoe UI"/>
              </a:rPr>
              <a:t>Sourced + converted MobileFaceNet weights (tflite + SavedModel), tuned threshold to 0.55, upgraded to Node 22 / firebase-functions v7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B82F6"/>
                </a:solidFill>
                <a:latin typeface="Segoe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Segoe UI"/>
              </a:rPr>
              <a:t>Smitraj Bankar (Roll 09)  ·  NextGen Rakshak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8C0D4"/>
                </a:solidFill>
                <a:latin typeface="Segoe UI"/>
              </a:rPr>
              <a:t>Guide: Dr. A. B. Pawar · Coordinator: Dr. S. R. Deshmukh · HOD: Dr. M. A. Jawale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1987</Words>
  <Application>Microsoft Office PowerPoint</Application>
  <PresentationFormat>Widescreen</PresentationFormat>
  <Paragraphs>151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smitraj bankar</cp:lastModifiedBy>
  <cp:revision>3</cp:revision>
  <dcterms:created xsi:type="dcterms:W3CDTF">2013-01-27T09:14:16Z</dcterms:created>
  <dcterms:modified xsi:type="dcterms:W3CDTF">2026-08-26T13:37:17Z</dcterms:modified>
  <cp:category/>
</cp:coreProperties>
</file>