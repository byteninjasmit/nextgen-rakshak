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Segoe UI"/>
              </a:rPr>
              <a:t>PROGRESS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NextGen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C0D4"/>
                </a:solidFill>
                <a:latin typeface="Segoe UI"/>
              </a:rPr>
              <a:t>Smart Edge-AI System to Reunite Lost Children with Their Families
at Crowded Public Events — Final Year Capstone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128016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C0D4"/>
                </a:solidFill>
                <a:latin typeface="Segoe UI"/>
              </a:rPr>
              <a:t>Group 6  |  Guide: Dr. A. B. Pawar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Children Get Lost. The First Hour Decides Everything.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41148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700" b="1">
                <a:solidFill>
                  <a:srgbClr val="3B82F6"/>
                </a:solidFill>
                <a:latin typeface="Segoe UI"/>
              </a:rPr>
              <a:t>Golden Hour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8C0D4"/>
                </a:solidFill>
                <a:latin typeface="Segoe UI"/>
              </a:rPr>
              <a:t>The first 60–90 minutes after a child goes missing matter most — after that, the chances of a quick, safe recovery drop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1148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700" b="1">
                <a:solidFill>
                  <a:srgbClr val="3B82F6"/>
                </a:solidFill>
                <a:latin typeface="Segoe UI"/>
              </a:rPr>
              <a:t>Networks Jam Up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8C0D4"/>
                </a:solidFill>
                <a:latin typeface="Segoe UI"/>
              </a:rPr>
              <a:t>Lakhs of people at one venue means mobile networks choke exactly when they're needed most.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429000" cy="41148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700" b="1">
                <a:solidFill>
                  <a:srgbClr val="3B82F6"/>
                </a:solidFill>
                <a:latin typeface="Segoe UI"/>
              </a:rPr>
              <a:t>Manual Search Is Slow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8C0D4"/>
                </a:solidFill>
                <a:latin typeface="Segoe UI"/>
              </a:rPr>
              <a:t>Announcements and printed photos depend on someone noticing and remembering a face — too slow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Put the Search Party in Everyone's Pocket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Segoe UI"/>
              </a:rPr>
              <a:t>Every volunteer's phone quietly checks nearby faces against the missing child's photo
using AI that runs on the phone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700" b="1">
                <a:solidFill>
                  <a:srgbClr val="22C55E"/>
                </a:solidFill>
                <a:latin typeface="Segoe UI"/>
              </a:rPr>
              <a:t>No Internet Needed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8C0D4"/>
                </a:solidFill>
                <a:latin typeface="Segoe UI"/>
              </a:rPr>
              <a:t>Phones relay alerts to each other directly (Bluetooth / Wi-Fi), so the search keeps going even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2004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700" b="1">
                <a:solidFill>
                  <a:srgbClr val="22C55E"/>
                </a:solidFill>
                <a:latin typeface="Segoe UI"/>
              </a:rPr>
              <a:t>Privacy by Design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8C0D4"/>
                </a:solidFill>
                <a:latin typeface="Segoe UI"/>
              </a:rPr>
              <a:t>No face photo or video is ever uploaded. Matching happens entirely on the volunteer's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004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700" b="1">
                <a:solidFill>
                  <a:srgbClr val="22C55E"/>
                </a:solidFill>
                <a:latin typeface="Segoe UI"/>
              </a:rPr>
              <a:t>Human Confirms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8C0D4"/>
                </a:solidFill>
                <a:latin typeface="Segoe UI"/>
              </a:rPr>
              <a:t>AI only suggests a possible match — a real person always confirms before anyone is dispatched.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From Alert to Reunion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691640"/>
            <a:ext cx="9966960" cy="548640"/>
          </a:xfrm>
          <a:prstGeom prst="roundRect">
            <a:avLst>
              <a:gd name="adj" fmla="val 15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Officer files an alert at the kiosk (photo + child details)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2514600"/>
            <a:ext cx="9966960" cy="548640"/>
          </a:xfrm>
          <a:prstGeom prst="roundRect">
            <a:avLst>
              <a:gd name="adj" fmla="val 15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Cloud turns the photo into a small face "fingerprint" (just numbers)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337560"/>
            <a:ext cx="9966960" cy="548640"/>
          </a:xfrm>
          <a:prstGeom prst="roundRect">
            <a:avLst>
              <a:gd name="adj" fmla="val 15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Alert reaches volunteers nearby via push notification — and via phone-to-phone relay if offline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4160520"/>
            <a:ext cx="9966960" cy="548640"/>
          </a:xfrm>
          <a:prstGeom prst="roundRect">
            <a:avLst>
              <a:gd name="adj" fmla="val 15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Volunteer scans the crowd; matching runs on their phone, live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4983480"/>
            <a:ext cx="9966960" cy="548640"/>
          </a:xfrm>
          <a:prstGeom prst="roundRect">
            <a:avLst>
              <a:gd name="adj" fmla="val 15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On a likely match, the app asks the volunteer to visually confirm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8064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5806440"/>
            <a:ext cx="9966960" cy="548640"/>
          </a:xfrm>
          <a:prstGeom prst="roundRect">
            <a:avLst>
              <a:gd name="adj" fmla="val 15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Confirmed sighting (location + time) appears instantly on the officer's dashboard for 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BUILT &amp; WORKING — POLICE WEB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Officer Dashboard, New Alert, Live Matches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hatsApp Image 2026-08-26 at 6.07.5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67682"/>
            <a:ext cx="3444240" cy="1711356"/>
          </a:xfrm>
          <a:prstGeom prst="rect">
            <a:avLst/>
          </a:prstGeom>
        </p:spPr>
      </p:pic>
      <p:pic>
        <p:nvPicPr>
          <p:cNvPr id="6" name="Picture 5" descr="WhatsApp Image 2026-08-26 at 6.07.57 PM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40" y="3168758"/>
            <a:ext cx="3444240" cy="1709204"/>
          </a:xfrm>
          <a:prstGeom prst="rect">
            <a:avLst/>
          </a:prstGeom>
        </p:spPr>
      </p:pic>
      <p:pic>
        <p:nvPicPr>
          <p:cNvPr id="7" name="Picture 6" descr="WhatsApp Image 2026-08-26 at 6.07.57 PM (5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178445"/>
            <a:ext cx="3444240" cy="16898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8C0D4"/>
                </a:solidFill>
                <a:latin typeface="Segoe UI"/>
              </a:rPr>
              <a:t>Left → right: live dashboard, filing a new alert, reviewing a volunteer's sighting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BUILT &amp; WORKING — VOLUNTEER 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Scan the Crowd, Confirm a Match, Track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hatsApp Image 2026-08-26 at 6.09.18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16" y="1691640"/>
            <a:ext cx="2105567" cy="4663440"/>
          </a:xfrm>
          <a:prstGeom prst="rect">
            <a:avLst/>
          </a:prstGeom>
        </p:spPr>
      </p:pic>
      <p:pic>
        <p:nvPicPr>
          <p:cNvPr id="6" name="Picture 5" descr="WhatsApp Image 2026-08-26 at 6.09.17 PM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571" y="1691640"/>
            <a:ext cx="2104377" cy="4663440"/>
          </a:xfrm>
          <a:prstGeom prst="rect">
            <a:avLst/>
          </a:prstGeom>
        </p:spPr>
      </p:pic>
      <p:pic>
        <p:nvPicPr>
          <p:cNvPr id="7" name="Picture 6" descr="WhatsApp Image 2026-08-26 at 6.09.19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131" y="1691640"/>
            <a:ext cx="210437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8C0D4"/>
                </a:solidFill>
                <a:latin typeface="Segoe UI"/>
              </a:rPr>
              <a:t>Left → right: home with active alert, live match found on-device, volunteer's match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What's Done vs. What's Left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Police Web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92024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2E"/>
                </a:solidFill>
                <a:latin typeface="Segoe UI"/>
              </a:rPr>
              <a:t>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05456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Volunteer Mobile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688336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2E"/>
                </a:solidFill>
                <a:latin typeface="Segoe U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73552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On-Device AI Face Matching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56432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2E"/>
                </a:solidFill>
                <a:latin typeface="Segoe U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41648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Cloud Backend (alerts, push, expiry)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224528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2E"/>
                </a:solidFill>
                <a:latin typeface="Segoe UI"/>
              </a:rP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9744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Offline Phone-to-Phone Relay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992624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2E"/>
                </a:solidFill>
                <a:latin typeface="Segoe UI"/>
              </a:rP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57784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Raspberry Pi Gate Camera (optional)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576072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2E"/>
                </a:solidFill>
                <a:latin typeface="Segoe UI"/>
              </a:rPr>
              <a:t>Not started — stretch goal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WHY IT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Not Just Another Missing-Person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3B82F6"/>
                </a:solidFill>
                <a:latin typeface="Segoe UI"/>
              </a:rPr>
              <a:t>▸  Privacy-first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C0D4"/>
                </a:solidFill>
                <a:latin typeface="Segoe UI"/>
              </a:rPr>
              <a:t>     No bystander's face, photo, or video ever leaves the phone — only numbers (a "fingerprint") are used.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3B82F6"/>
                </a:solidFill>
                <a:latin typeface="Segoe UI"/>
              </a:rPr>
              <a:t>▸  Works without internet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C0D4"/>
                </a:solidFill>
                <a:latin typeface="Segoe UI"/>
              </a:rPr>
              <a:t>     Most systems die when networks jam; ours keeps relaying alerts phone-to-phone.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3B82F6"/>
                </a:solidFill>
                <a:latin typeface="Segoe UI"/>
              </a:rPr>
              <a:t>▸  Human always decides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C0D4"/>
                </a:solidFill>
                <a:latin typeface="Segoe UI"/>
              </a:rPr>
              <a:t>     AI narrows down candidates; a volunteer visually confirms before dispatch — no automated "found"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What's Left Before Final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•  (Optional) Raspberry Pi fixed-camera node at entry/exit gates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•  More field-style testing at a mock event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•  Polish UI details and rehearse the live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Segoe U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Group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7589520" cy="658368"/>
          </a:xfrm>
          <a:prstGeom prst="roundRect">
            <a:avLst>
              <a:gd name="adj" fmla="val 2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800" b="0">
                <a:solidFill>
                  <a:srgbClr val="FFFFFF"/>
                </a:solidFill>
                <a:latin typeface="Segoe UI"/>
              </a:rPr>
              <a:t>09   Bankar Smitraj Dinkar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34640"/>
            <a:ext cx="7589520" cy="658368"/>
          </a:xfrm>
          <a:prstGeom prst="roundRect">
            <a:avLst>
              <a:gd name="adj" fmla="val 2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800" b="0">
                <a:solidFill>
                  <a:srgbClr val="FFFFFF"/>
                </a:solidFill>
                <a:latin typeface="Segoe UI"/>
              </a:rPr>
              <a:t>11   Bhakare Tanishka Sharad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657600"/>
            <a:ext cx="7589520" cy="658368"/>
          </a:xfrm>
          <a:prstGeom prst="roundRect">
            <a:avLst>
              <a:gd name="adj" fmla="val 2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800" b="0">
                <a:solidFill>
                  <a:srgbClr val="FFFFFF"/>
                </a:solidFill>
                <a:latin typeface="Segoe UI"/>
              </a:rPr>
              <a:t>34   Dhadge Vedant Sanjay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480560"/>
            <a:ext cx="7589520" cy="658368"/>
          </a:xfrm>
          <a:prstGeom prst="roundRect">
            <a:avLst>
              <a:gd name="adj" fmla="val 2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800" b="0">
                <a:solidFill>
                  <a:srgbClr val="FFFFFF"/>
                </a:solidFill>
                <a:latin typeface="Segoe UI"/>
              </a:rPr>
              <a:t>94   Narkhede Atharva Anantkumar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8C0D4"/>
                </a:solidFill>
                <a:latin typeface="Segoe UI"/>
              </a:rPr>
              <a:t>Guide: Dr. A. B. Pawar   |   Coordinator: Dr. S. R. Deshmukh   |   HOD: Dr. M. A. Jawale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17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